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8ee5c2207b4dbc" /><Relationship Type="http://schemas.openxmlformats.org/officeDocument/2006/relationships/extended-properties" Target="/docProps/app.xml" Id="Rb3522efe59124038" /><Relationship Type="http://schemas.openxmlformats.org/officeDocument/2006/relationships/officeDocument" Target="/ppt/presentation.xml" Id="Raa059cbcb76e43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5faa0d591a43c4"/>
  </p:sldMasterIdLst>
  <p:notesMasterIdLst>
    <p:notesMasterId xmlns:r="http://schemas.openxmlformats.org/officeDocument/2006/relationships" r:id="Rf1988ee2ce5e488f"/>
  </p:notesMasterIdLst>
  <p:sldIdLst>
    <p:sldId xmlns:r="http://schemas.openxmlformats.org/officeDocument/2006/relationships" id="256" r:id="R2f1b6b2dab974af8"/>
    <p:sldId xmlns:r="http://schemas.openxmlformats.org/officeDocument/2006/relationships" id="257" r:id="R7f52a60acfa84c19"/>
    <p:sldId xmlns:r="http://schemas.openxmlformats.org/officeDocument/2006/relationships" id="258" r:id="Re6ba9a162ef44cc3"/>
    <p:sldId xmlns:r="http://schemas.openxmlformats.org/officeDocument/2006/relationships" id="259" r:id="R34efe49991cb4556"/>
    <p:sldId xmlns:r="http://schemas.openxmlformats.org/officeDocument/2006/relationships" id="260" r:id="R2595e92ccfb745f5"/>
    <p:sldId xmlns:r="http://schemas.openxmlformats.org/officeDocument/2006/relationships" id="261" r:id="Rd930d69ceb8f4023"/>
    <p:sldId xmlns:r="http://schemas.openxmlformats.org/officeDocument/2006/relationships" id="262" r:id="R26be76fbcb2d416c"/>
    <p:sldId xmlns:r="http://schemas.openxmlformats.org/officeDocument/2006/relationships" id="263" r:id="R067b5d702d84444e"/>
    <p:sldId xmlns:r="http://schemas.openxmlformats.org/officeDocument/2006/relationships" id="264" r:id="R06c295097bc74511"/>
    <p:sldId xmlns:r="http://schemas.openxmlformats.org/officeDocument/2006/relationships" id="265" r:id="Rd6ca159d09124658"/>
    <p:sldId xmlns:r="http://schemas.openxmlformats.org/officeDocument/2006/relationships" id="266" r:id="Rf25daf2273cc459c"/>
    <p:sldId xmlns:r="http://schemas.openxmlformats.org/officeDocument/2006/relationships" id="267" r:id="Re3496b133e1f46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caccd810ba4ab2" /><Relationship Type="http://schemas.openxmlformats.org/officeDocument/2006/relationships/slideMaster" Target="/ppt/slideMasters/slideMaster1.xml" Id="R535faa0d591a43c4" /><Relationship Type="http://schemas.openxmlformats.org/officeDocument/2006/relationships/notesMaster" Target="/ppt/notesMasters/notesMaster1.xml" Id="Rf1988ee2ce5e488f" /><Relationship Type="http://schemas.openxmlformats.org/officeDocument/2006/relationships/presProps" Target="/ppt/presProps.xml" Id="R5bece858818c4f07" /><Relationship Type="http://schemas.openxmlformats.org/officeDocument/2006/relationships/tableStyles" Target="/ppt/tableStyles.xml" Id="R96a19d81d7034c87" /><Relationship Type="http://schemas.openxmlformats.org/officeDocument/2006/relationships/slide" Target="/ppt/slides/slide1.xml" Id="R2f1b6b2dab974af8" /><Relationship Type="http://schemas.openxmlformats.org/officeDocument/2006/relationships/slide" Target="/ppt/slides/slide2.xml" Id="R7f52a60acfa84c19" /><Relationship Type="http://schemas.openxmlformats.org/officeDocument/2006/relationships/slide" Target="/ppt/slides/slide3.xml" Id="Re6ba9a162ef44cc3" /><Relationship Type="http://schemas.openxmlformats.org/officeDocument/2006/relationships/slide" Target="/ppt/slides/slide4.xml" Id="R34efe49991cb4556" /><Relationship Type="http://schemas.openxmlformats.org/officeDocument/2006/relationships/slide" Target="/ppt/slides/slide5.xml" Id="R2595e92ccfb745f5" /><Relationship Type="http://schemas.openxmlformats.org/officeDocument/2006/relationships/slide" Target="/ppt/slides/slide6.xml" Id="Rd930d69ceb8f4023" /><Relationship Type="http://schemas.openxmlformats.org/officeDocument/2006/relationships/slide" Target="/ppt/slides/slide7.xml" Id="R26be76fbcb2d416c" /><Relationship Type="http://schemas.openxmlformats.org/officeDocument/2006/relationships/slide" Target="/ppt/slides/slide8.xml" Id="R067b5d702d84444e" /><Relationship Type="http://schemas.openxmlformats.org/officeDocument/2006/relationships/slide" Target="/ppt/slides/slide9.xml" Id="R06c295097bc74511" /><Relationship Type="http://schemas.openxmlformats.org/officeDocument/2006/relationships/slide" Target="/ppt/slides/slide10.xml" Id="Rd6ca159d09124658" /><Relationship Type="http://schemas.openxmlformats.org/officeDocument/2006/relationships/slide" Target="/ppt/slides/slide11.xml" Id="Rf25daf2273cc459c" /><Relationship Type="http://schemas.openxmlformats.org/officeDocument/2006/relationships/slide" Target="/ppt/slides/slide12.xml" Id="Re3496b133e1f46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e7dac0a3ff43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29d16e1354478f" /><Relationship Type="http://schemas.openxmlformats.org/officeDocument/2006/relationships/notesMaster" Target="/ppt/notesMasters/notesMaster1.xml" Id="R2ba364c7efe344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63289302bf497e" /><Relationship Type="http://schemas.openxmlformats.org/officeDocument/2006/relationships/notesMaster" Target="/ppt/notesMasters/notesMaster1.xml" Id="Rd30ee3f3dacb4c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313a1c96754920" /><Relationship Type="http://schemas.openxmlformats.org/officeDocument/2006/relationships/notesMaster" Target="/ppt/notesMasters/notesMaster1.xml" Id="Rbe2dc4a999e64c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3f810197fd4c4c" /><Relationship Type="http://schemas.openxmlformats.org/officeDocument/2006/relationships/notesMaster" Target="/ppt/notesMasters/notesMaster1.xml" Id="R390b3bca64a047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2acb45c53b41f0" /><Relationship Type="http://schemas.openxmlformats.org/officeDocument/2006/relationships/notesMaster" Target="/ppt/notesMasters/notesMaster1.xml" Id="Ra27e67de3cb042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205dbf57fe4c32" /><Relationship Type="http://schemas.openxmlformats.org/officeDocument/2006/relationships/notesMaster" Target="/ppt/notesMasters/notesMaster1.xml" Id="R02098998380641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0caa8490724408" /><Relationship Type="http://schemas.openxmlformats.org/officeDocument/2006/relationships/notesMaster" Target="/ppt/notesMasters/notesMaster1.xml" Id="R08088afa453f4e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509f713086480a" /><Relationship Type="http://schemas.openxmlformats.org/officeDocument/2006/relationships/notesMaster" Target="/ppt/notesMasters/notesMaster1.xml" Id="R37f3c15b0bbf41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e1720d5ba4439d" /><Relationship Type="http://schemas.openxmlformats.org/officeDocument/2006/relationships/notesMaster" Target="/ppt/notesMasters/notesMaster1.xml" Id="R5fd7c27ae3af48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3fa852d38041fd" /><Relationship Type="http://schemas.openxmlformats.org/officeDocument/2006/relationships/notesMaster" Target="/ppt/notesMasters/notesMaster1.xml" Id="R7923cf103f0245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ee02d804b74bb2" /><Relationship Type="http://schemas.openxmlformats.org/officeDocument/2006/relationships/notesMaster" Target="/ppt/notesMasters/notesMaster1.xml" Id="Rbb0b00c1ca4b42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23b148af0f4586" /><Relationship Type="http://schemas.openxmlformats.org/officeDocument/2006/relationships/notesMaster" Target="/ppt/notesMasters/notesMaster1.xml" Id="Rc3257607b76041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src/scholarai/application/agents/supervisor.py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sections 1–3</a:t>
            </a:r>
          </a:p>
          <a:p xmlns:a="http://schemas.openxmlformats.org/drawingml/2006/main">
            <a:r>
              <a:t>-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docs/AGENTS.md</a:t>
            </a:r>
          </a:p>
          <a:p xmlns:a="http://schemas.openxmlformats.org/drawingml/2006/main">
            <a:r>
              <a:t>- src/scholarai/application/agents/supervisor.py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docs/assets/scholarai-workforce-architecture.svg</a:t>
            </a:r>
          </a:p>
          <a:p xmlns:a="http://schemas.openxmlformats.org/drawingml/2006/main">
            <a:r>
              <a:t>- src/scholarai/application/orchestration/graph.py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src/scholarai/application/orchestration/graph.py</a:t>
            </a:r>
          </a:p>
          <a:p xmlns:a="http://schemas.openxmlformats.org/drawingml/2006/main">
            <a:r>
              <a:t>- GET /applications/workflow/topology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ui/streamlit_app/pages/3_Agent_Workforce.py</a:t>
            </a:r>
          </a:p>
          <a:p xmlns:a="http://schemas.openxmlformats.org/drawingml/2006/main">
            <a:r>
              <a:t>- src/scholarai/application/orchestration/runtime.py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src/scholarai/application/agents/policy_rag.py</a:t>
            </a:r>
          </a:p>
          <a:p xmlns:a="http://schemas.openxmlformats.org/drawingml/2006/main">
            <a:r>
              <a:t>- src/scholarai/infrastructure/web_search/tavily_client.py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docs/MEMORY.md</a:t>
            </a:r>
          </a:p>
          <a:p xmlns:a="http://schemas.openxmlformats.org/drawingml/2006/main">
            <a:r>
              <a:t>- src/scholarai/application/use_cases/apply_human_decision.py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src/scholarai/infrastructure/llm/usage.py</a:t>
            </a:r>
          </a:p>
          <a:p xmlns:a="http://schemas.openxmlformats.org/drawingml/2006/main">
            <a:r>
              <a:t>- GET /applications/{id}/usage</a:t>
            </a:r>
          </a:p>
          <a:p xmlns:a="http://schemas.openxmlformats.org/drawingml/2006/main">
            <a:r>
              <a:t>- GET /applications/{id}/logs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verification: pytest 110 passed</a:t>
            </a:r>
          </a:p>
          <a:p xmlns:a="http://schemas.openxmlformats.org/drawingml/2006/main">
            <a:r>
              <a:t>- Local verification: mypy checked 117 source files with no issues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render.yaml</a:t>
            </a:r>
          </a:p>
          <a:p xmlns:a="http://schemas.openxmlformats.org/drawingml/2006/main">
            <a:r>
              <a:t>- Dockerfile</a:t>
            </a:r>
          </a:p>
          <a:p xmlns:a="http://schemas.openxmlformats.org/drawingml/2006/main">
            <a:r>
              <a:t>- docs/DEPLOYMENT.md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docs/PROJECT_APPROVAL.md</a:t>
            </a:r>
          </a:p>
          <a:p xmlns:a="http://schemas.openxmlformats.org/drawingml/2006/main">
            <a:r>
              <a:t>- docs/WEEKLY_PROGRESS.md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c4bbf817ea4b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8783d01f59479a" /><Relationship Type="http://schemas.openxmlformats.org/officeDocument/2006/relationships/slideLayout" Target="/ppt/slideLayouts/slideLayout1.xml" Id="R63f0955583ac41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f0955583ac41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a9fd4075f46e5" /><Relationship Type="http://schemas.openxmlformats.org/officeDocument/2006/relationships/notesSlide" Target="/ppt/notesSlides/notesSlide1.xml" Id="Re89c1f9c308f40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339269de84745" /><Relationship Type="http://schemas.openxmlformats.org/officeDocument/2006/relationships/notesSlide" Target="/ppt/notesSlides/notesSlide2.xml" Id="R4a796fe299ad48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94a75814e454a" /><Relationship Type="http://schemas.openxmlformats.org/officeDocument/2006/relationships/notesSlide" Target="/ppt/notesSlides/notesSlide3.xml" Id="R77d6cfa2b8e447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91830f78e4cc5" /><Relationship Type="http://schemas.openxmlformats.org/officeDocument/2006/relationships/image" Target="/ppt/media/image.png" Id="Rd15a118dee3a421e" /><Relationship Type="http://schemas.openxmlformats.org/officeDocument/2006/relationships/notesSlide" Target="/ppt/notesSlides/notesSlide4.xml" Id="R828a30e9e98346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9c9b2b40c4adb" /><Relationship Type="http://schemas.openxmlformats.org/officeDocument/2006/relationships/notesSlide" Target="/ppt/notesSlides/notesSlide5.xml" Id="R69cc22f5827641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121ea2a884897" /><Relationship Type="http://schemas.openxmlformats.org/officeDocument/2006/relationships/image" Target="/ppt/media/image2.png" Id="R7665097e8e9541fb" /><Relationship Type="http://schemas.openxmlformats.org/officeDocument/2006/relationships/notesSlide" Target="/ppt/notesSlides/notesSlide6.xml" Id="Ref67c1a3a45941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f5d7fea9144a2" /><Relationship Type="http://schemas.openxmlformats.org/officeDocument/2006/relationships/notesSlide" Target="/ppt/notesSlides/notesSlide7.xml" Id="R6ad4827cb24445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3d29eb4ac4414" /><Relationship Type="http://schemas.openxmlformats.org/officeDocument/2006/relationships/notesSlide" Target="/ppt/notesSlides/notesSlide8.xml" Id="R5786f397cbe341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17bf0fc9c4f58" /><Relationship Type="http://schemas.openxmlformats.org/officeDocument/2006/relationships/notesSlide" Target="/ppt/notesSlides/notesSlide9.xml" Id="R4139bbcec59a4a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8b9d47c03405d" /><Relationship Type="http://schemas.openxmlformats.org/officeDocument/2006/relationships/notesSlide" Target="/ppt/notesSlides/notesSlide10.xml" Id="Ree7a15e3d29746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4d03a516c41b0" /><Relationship Type="http://schemas.openxmlformats.org/officeDocument/2006/relationships/notesSlide" Target="/ppt/notesSlides/notesSlide11.xml" Id="R61e8cd3896ef48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83210390c4566" /><Relationship Type="http://schemas.openxmlformats.org/officeDocument/2006/relationships/notesSlide" Target="/ppt/notesSlides/notesSlide12.xml" Id="R0c19bd08c6a54d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83BA7-BA29-40F2-A470-AB0870C1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AGENTIC AI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A67A9-6E7A-4E47-994F-67BD6BF5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239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ScholarAI</a:t>
            </a:r>
          </a:p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Workforce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6AEDE-48FD-461E-891D-330E0500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Supervisor-orchestrated scholarship evaluation with live controls, evidence, memory, and human oversight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E323A-4C56-4BE0-9386-47EAFA7C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FFA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006C7-2859-4B95-936B-CDADFEB6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52625"/>
            <a:ext cx="171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E00E6-EBD8-44B7-A35D-4F604825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480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specialist agents</a:t>
            </a:r>
          </a:p>
          <a:p xmlns:a="http://schemas.openxmlformats.org/drawingml/2006/main">
            <a:pPr algn="ctr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+ one Supervisor</a:t>
            </a:r>
          </a:p>
        </p:txBody>
      </p:sp>
    </p:spTree>
    <p:extLst>
      <p:ext uri="{BB962C8B-B14F-4D97-AF65-F5344CB8AC3E}">
        <p14:creationId xmlns:p14="http://schemas.microsoft.com/office/powerpoint/2010/main" val="10768469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7C8F0-E6A6-413F-83CE-80D98C72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DESIGN INTENT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4C021-E29B-4254-9D6C-BB02693C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This is an AI workforce—not a chatbot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D264B-CD96-432C-8F25-F9510EDF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57200" y="14287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6D49D-3E82-4ACF-AF37-D8B5B874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review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8B0CE-B16F-4831-9276-0C0C2197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19375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Scholarship decisions combine documents, eligibility rules, academic performance, financial need, achievements, policy, and cross-document verification.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77075-9DA9-4BA2-A2D0-1F2B3A8C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operating principle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EE3F7-CF6C-4F9B-8956-C5135D24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19375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Agents perform bounded specialist work. Deterministic services compute every score. Evidence supports every claim. A human owns the final decision.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1578B-F07F-4CDD-A522-8579E2E6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08775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FFA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06F89-DC40-4304-91B6-108C38C6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1026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Outcome: faster review without surrendering accountability</a:t>
            </a:r>
          </a:p>
        </p:txBody>
      </p:sp>
    </p:spTree>
    <p:extLst>
      <p:ext uri="{BB962C8B-B14F-4D97-AF65-F5344CB8AC3E}">
        <p14:creationId xmlns:p14="http://schemas.microsoft.com/office/powerpoint/2010/main" val="7848260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EF81C3-A06D-4712-BDE4-766FCD64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MULTI-AGENT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7D264-F9D8-4EBF-8150-74302F4D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Supervisor coordinates ten specialists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8C792-F288-4000-806F-5E118205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CECDD-8F96-4916-BFF9-2A3DB1F5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B1A3F-5D1F-4E8F-AA66-4276BD21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specialist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51FF5-2D81-43F7-9EA1-F9B5342B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62375"/>
            <a:ext cx="30003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The Supervisor builds the plan, skips unnecessary work, routes failures, and starts targeted revisions from Critic feedback.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B3E26-354A-4618-9D3B-DCA3DCF7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52625"/>
            <a:ext cx="228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6FB49-3CCF-4DCF-9527-799EC01D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86000"/>
            <a:ext cx="1828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Evidence intake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53AE4-3F9E-4638-94F0-893EC9B5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95625"/>
            <a:ext cx="1828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Document Analysis</a:t>
            </a:r>
          </a:p>
          <a:p xmlns:a="http://schemas.openxmlformats.org/drawingml/2006/main">
            <a:pPr algn="l">
              <a:def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Eligibility</a:t>
            </a:r>
          </a:p>
          <a:p xmlns:a="http://schemas.openxmlformats.org/drawingml/2006/main">
            <a:pPr algn="l">
              <a:def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Verification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9E741-D9C0-44AF-8739-46CD7D08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28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F6B99-E299-4D84-B9D2-41088143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1828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Specialist scoring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A36AE-EE21-46DF-9C1E-20DE893F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95625"/>
            <a:ext cx="1828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Academic</a:t>
            </a:r>
          </a:p>
          <a:p xmlns:a="http://schemas.openxmlformats.org/drawingml/2006/main">
            <a:pPr algn="l">
              <a:def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Financial Need</a:t>
            </a:r>
          </a:p>
          <a:p xmlns:a="http://schemas.openxmlformats.org/drawingml/2006/main">
            <a:pPr algn="l">
              <a:def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Achievement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B4826-104C-4EA2-87C6-BB8A5697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52625"/>
            <a:ext cx="228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F200E6-2BB1-4F8D-A648-46870246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86000"/>
            <a:ext cx="1828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Synthesis &amp;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45955-FB03-406D-9C5E-076CA72E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95625"/>
            <a:ext cx="1828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Policy / RAG</a:t>
            </a:r>
          </a:p>
          <a:p xmlns:a="http://schemas.openxmlformats.org/drawingml/2006/main">
            <a:pPr algn="l">
              <a:def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  <a:p xmlns:a="http://schemas.openxmlformats.org/drawingml/2006/main">
            <a:pPr algn="l">
              <a:def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SOP Writer</a:t>
            </a:r>
          </a:p>
          <a:p xmlns:a="http://schemas.openxmlformats.org/drawingml/2006/main">
            <a:pPr algn="l">
              <a:def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Critic</a:t>
            </a:r>
          </a:p>
        </p:txBody>
      </p:sp>
    </p:spTree>
    <p:extLst>
      <p:ext uri="{BB962C8B-B14F-4D97-AF65-F5344CB8AC3E}">
        <p14:creationId xmlns:p14="http://schemas.microsoft.com/office/powerpoint/2010/main" val="233249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a118dee3a421e"/>
          <a:stretch xmlns:a="http://schemas.openxmlformats.org/drawingml/2006/main"/>
        </p:blipFill>
        <p:spPr>
          <a:xfrm xmlns:a="http://schemas.openxmlformats.org/drawingml/2006/main">
            <a:off x="114300" y="64294"/>
            <a:ext cx="11963400" cy="67294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469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54FBA3-E252-4522-AFC8-4DDF73AE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LANGGRAPH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21538-57F1-418E-AD05-E2B3A329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graph plans, executes, critiques, and reruns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9C69D-D77E-4D32-BBF3-A01382E3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2266950" y="3143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06D"/>
            </a:solidFill>
            <a:prstDash val="solid"/>
          </a:ln>
        </p:spPr>
      </p:cxnSp>
      <p:cxnSp>
        <p:nvCxnSpPr>
          <p:cNvPr id="25" name=""/>
          <p:cNvCxnSpPr/>
          <p:nvPr/>
        </p:nvCxnSpPr>
        <p:spPr>
          <a:xfrm xmlns:a="http://schemas.openxmlformats.org/drawingml/2006/main">
            <a:off x="4695825" y="3143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06D"/>
            </a:solidFill>
            <a:prstDash val="solid"/>
          </a:ln>
        </p:spPr>
      </p:cxnSp>
      <p:cxnSp>
        <p:nvCxnSpPr>
          <p:cNvPr id="26" name=""/>
          <p:cNvCxnSpPr/>
          <p:nvPr/>
        </p:nvCxnSpPr>
        <p:spPr>
          <a:xfrm xmlns:a="http://schemas.openxmlformats.org/drawingml/2006/main">
            <a:off x="7124700" y="3143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06D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9315450" y="3143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06D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1619250" y="3714750"/>
            <a:ext cx="6810375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3AED"/>
            </a:solidFill>
            <a:prstDash val="dash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D2375-F794-4A94-A274-67D6A668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809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8EF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5BA17-C7CC-4A5C-A111-9451FE4E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Supervisor</a:t>
            </a:r>
          </a:p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46514-A971-497F-8A78-F8AC40E2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76500"/>
            <a:ext cx="204787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D4DF7-9DF5-49F4-BB75-555BE073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38450"/>
            <a:ext cx="1704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Specialist</a:t>
            </a:r>
          </a:p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6DA6C-45CF-437D-92CC-E9A9AB06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476500"/>
            <a:ext cx="204787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1325C-F059-439E-A262-692CF1F2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838450"/>
            <a:ext cx="1704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+ SOP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050D4-D792-4C4F-8F13-40CC01CB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76500"/>
            <a:ext cx="1809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28AD2-96EB-450D-B2FF-38D0A133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3845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Critic</a:t>
            </a:r>
          </a:p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audit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CDCBC-8763-4B1C-8077-5B92A40A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76500"/>
            <a:ext cx="1809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0F4E4F-7342-4562-AD30-A381DAC3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3845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Human</a:t>
            </a:r>
          </a:p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39D64B-BDEE-4724-BD59-9632BE98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33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28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D28D9"/>
                </a:solidFill>
                <a:latin typeface="Helvetica Neue"/>
                <a:ea typeface="Helvetica Neue"/>
                <a:cs typeface="Helvetica Neue"/>
              </a:rPr>
              <a:t>REVISE: bounded targeted rerun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5C58BE-AFBA-43B5-91A5-DC8C31F6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9112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The UI reads the topology directly from CompiledStateGraph.get_graph(); it does not maintain a separate hand-drawn workflow.</a:t>
            </a:r>
          </a:p>
        </p:txBody>
      </p:sp>
    </p:spTree>
    <p:extLst>
      <p:ext uri="{BB962C8B-B14F-4D97-AF65-F5344CB8AC3E}">
        <p14:creationId xmlns:p14="http://schemas.microsoft.com/office/powerpoint/2010/main" val="5801909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CDA25-D61E-497D-BB40-E3F71C9F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INTERACTIVE 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B215D-9A11-4F17-8093-FB215C91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Operators control a genuinely live background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0D3AA-E15A-4848-BBFC-830AD692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5097e8e9541fb"/>
          <a:stretch xmlns:a="http://schemas.openxmlformats.org/drawingml/2006/main"/>
        </p:blipFill>
        <p:spPr>
          <a:xfrm xmlns:a="http://schemas.openxmlformats.org/drawingml/2006/main">
            <a:off x="381000" y="1479947"/>
            <a:ext cx="7810500" cy="439340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3CA5D-EA07-4FFF-A57F-A75C5BB1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1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One-second polling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1C0DD-0651-4805-AAA2-C43017F6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38375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Progress and active actor update without blocking the request.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D5633-B309-4D94-893A-E185A3A7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3337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Real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0BEB5-9733-401E-AF49-05735718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57625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Pause · resume · cancel · retry-agent · full Supervisor rerun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524FC-889E-400F-84FE-AE9B3A37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0482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Downloadable logs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23E0E-4704-4E14-9E76-85A4B52F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524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Execution logs and error reports export as JSON.</a:t>
            </a:r>
          </a:p>
        </p:txBody>
      </p:sp>
    </p:spTree>
    <p:extLst>
      <p:ext uri="{BB962C8B-B14F-4D97-AF65-F5344CB8AC3E}">
        <p14:creationId xmlns:p14="http://schemas.microsoft.com/office/powerpoint/2010/main" val="4805587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8A561-7E0A-4C8A-A086-BD01B003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TOOL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4F24F-F77C-4E2C-96D0-FDF189FA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Tools add evidence without leaking applicant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F8A57-BB0F-4672-850C-8780C744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4067F-9725-457E-B019-16EA02A5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679EA-BC38-4A75-8FEB-59103606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Internal evidence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E65AB-E973-4F8F-92F7-310B013F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286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Document readers</a:t>
            </a:r>
          </a:p>
          <a:p xmlns:a="http://schemas.openxmlformats.org/drawingml/2006/main">
            <a:pPr algn="l">
              <a:defRPr sz="18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Deterministic Python scoring</a:t>
            </a:r>
          </a:p>
          <a:p xmlns:a="http://schemas.openxmlformats.org/drawingml/2006/main">
            <a:pPr algn="l">
              <a:defRPr sz="18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Policy RAG over Qdrant</a:t>
            </a:r>
          </a:p>
          <a:p xmlns:a="http://schemas.openxmlformats.org/drawingml/2006/main">
            <a:pPr algn="l">
              <a:defRPr sz="18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SQL episode lookup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0C115-293A-4A35-B10A-761C9C7A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FFA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2B5DB-DC81-4C2C-B5DC-350C4248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Public web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B44EC-95E0-4EFD-898C-E78A79E7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05125"/>
            <a:ext cx="4286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DuckDuckGo works without a key; Tavily is optional. Only a generic scholarship-policy query leaves the system—never student documents, achievements, names, or identifiers.</a:t>
            </a:r>
          </a:p>
        </p:txBody>
      </p:sp>
    </p:spTree>
    <p:extLst>
      <p:ext uri="{BB962C8B-B14F-4D97-AF65-F5344CB8AC3E}">
        <p14:creationId xmlns:p14="http://schemas.microsoft.com/office/powerpoint/2010/main" val="5183184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FA596-BAFD-421D-8C20-CBFAFCB6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SHARED AND LONG-TERM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ABED3-C14F-410A-A2EF-DCE832B2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Memory makes every decision inspectable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4DC47-5C40-42E1-B2B6-C9FB721D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1047750" y="314325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72DEF-45EA-408D-99D4-826CFEE5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01849-B949-4CED-B562-19D2DA9E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Working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16A4E-33F1-4263-8070-01797673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Typed LangGraph state carries facts, evidence, results, trace, and messages.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8911B-70E2-4CAD-A971-2C11D567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2D558-F8DD-4705-9026-5A708857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71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Audit episode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7C82B-A41F-4307-8D3A-E8B63C94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43375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PostgreSQL stores the evaluation timeline and human decision.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50C0D8-83A5-48AC-ACDA-A203FF76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F379A-6376-49D2-B248-D486B0D5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Semantic recall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23F0F-421A-4948-AA65-2C9B1F42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43375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Qdrant retrieves similar prior cases for future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CA5BE-6ADE-484C-99A2-2DC5775B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3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9A3412"/>
                </a:solidFill>
                <a:latin typeface="Helvetica Neue"/>
                <a:ea typeface="Helvetica Neue"/>
                <a:cs typeface="Helvetica Neue"/>
              </a:rPr>
              <a:t>No human decision → no final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20988185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D9D17-4693-42F4-B549-93999A87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LOGGING AND COST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6FEBC-E24A-42E8-8B65-41FC4576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Provider usage is captured at the source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51D17-012F-4093-9712-CDE3CAC2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8685C-3A74-48F5-B523-18831E7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Every LLM call is scoped to an application and agent. Provider response metadata supplies input tokens, output tokens, model, provider, and calculated cost.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CD8FD-E8EA-4239-9603-21E305CE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3429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92183-C3AF-4ED1-96EB-1651F589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Tokens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4F516-ADDA-4E7D-A1D0-773C6464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2895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Actual response usage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2DF17-BB74-4310-9BB4-02BA99AC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00375"/>
            <a:ext cx="3429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F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744BD-A995-4036-8391-ECBBE280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81375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54FF6-2725-45EC-BC8D-5BF562AB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33875"/>
            <a:ext cx="2895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Model-aware estimate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B5E95-F169-43D3-8EEF-538C7C22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0375"/>
            <a:ext cx="3429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29F138-D714-44C1-AEB4-DA42C667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81375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C3973A-BF91-4755-AFCA-228D5AA5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33875"/>
            <a:ext cx="2895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Trace + messages + errors</a:t>
            </a:r>
          </a:p>
        </p:txBody>
      </p:sp>
    </p:spTree>
    <p:extLst>
      <p:ext uri="{BB962C8B-B14F-4D97-AF65-F5344CB8AC3E}">
        <p14:creationId xmlns:p14="http://schemas.microsoft.com/office/powerpoint/2010/main" val="20878208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143A2A-ACE1-4107-80BE-74207F21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QUALITY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BA644-8EB7-45B4-A370-7935B991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final build is verified, not just demonstrated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FF7EA-7088-4E13-8D7C-0FE5699F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F69D7-E379-4F2D-956A-7F251310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Unit, integration, end-to-end, UI-control, runtime, rerun, and retry tests all execute offline in CI.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A62BA-B4C0-48F4-9EF7-55AED116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3429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78DC2-ECDA-4D5C-BD04-DFDDF4A7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432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83EEC-5A32-455A-9C92-7AF568A7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767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tests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45235-FA25-45E0-8876-84EEDAC0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14625"/>
            <a:ext cx="3429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87549-A896-42C8-B8CD-18726115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432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3B88D-4A33-4671-8518-27A4921A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4767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typed source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F9678-C4C4-4ADA-B1D4-C614C748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14625"/>
            <a:ext cx="3429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68ECA-3623-4D39-8A09-B91B61F2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1432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AA30F-019D-4405-8606-1E234339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4767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mypy errors</a:t>
            </a:r>
          </a:p>
        </p:txBody>
      </p:sp>
    </p:spTree>
    <p:extLst>
      <p:ext uri="{BB962C8B-B14F-4D97-AF65-F5344CB8AC3E}">
        <p14:creationId xmlns:p14="http://schemas.microsoft.com/office/powerpoint/2010/main" val="10571966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666353-6A74-4E0B-BBED-08780E8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RELEASE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AF613-D2F3-46AD-9D5F-9ED3F77A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Deployment is reduced to four explicit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50EE1-A3E7-47ED-A569-5AD0F2D0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1000125" y="342900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BB4B0-89C0-47F6-8834-79713313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38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847BD-B014-4DB3-8942-41BEED52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956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13653-C445-4EF3-ADFE-D7B5AB7A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Run locally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4C7DB-8145-43FA-B66F-A4EA36D7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24375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Docker Compose or uv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CB599-1383-4450-89AE-C90DA4FB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38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DF569-100D-4E1E-86CE-3024A2DA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956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59145-0465-4337-ABA3-2BAC8954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528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Connect GitHub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4AD06-6FDF-450A-A2BA-230E7B68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24375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Push the verified repository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61834-8A23-47FC-ADFD-EF852025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38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D47DB-167B-4B52-93FC-46B0812D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956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4D9B42-CE55-405B-9773-850E4660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528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Create Render blueprint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0B200-41FD-460D-A4D4-3FE794EC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524375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API + UI + PostgreSQL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0BB16B-8B22-4B0E-9E3E-8E8EC703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38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9F15B0-01F4-45BE-B805-9C9FBBB2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956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2B816-767D-46E3-BA65-8BDDD0D6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528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Verify live 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2D861C-3A01-47D3-B78C-20144928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24375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Health, controls, logs, SOP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B40A2-07DB-46B4-90E2-A6446D15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1025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9A3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9A3412"/>
                </a:solidFill>
                <a:latin typeface="Helvetica Neue"/>
                <a:ea typeface="Helvetica Neue"/>
                <a:cs typeface="Helvetica Neue"/>
              </a:rPr>
              <a:t>Credentials and official approval evidence remain user-owned inputs.</a:t>
            </a:r>
          </a:p>
        </p:txBody>
      </p:sp>
    </p:spTree>
    <p:extLst>
      <p:ext uri="{BB962C8B-B14F-4D97-AF65-F5344CB8AC3E}">
        <p14:creationId xmlns:p14="http://schemas.microsoft.com/office/powerpoint/2010/main" val="1237431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C572A-3F08-4D8C-84C0-D802E5C7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READY FOR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E176F-DFDC-433D-BCD7-A7A6C4D3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ScholarAI Workforce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B8C25-D118-49BB-B441-7674349E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 real multi-agent system with evidence, control, and accountability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EFDB6-B1F9-4C05-80AF-E4D75A94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0839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FFA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F0D49-D934-47CA-AF37-2D041334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1967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Next: attach Teams approval evidence, push to GitHub, and deploy the prepared blueprint</a:t>
            </a:r>
          </a:p>
        </p:txBody>
      </p:sp>
    </p:spTree>
    <p:extLst>
      <p:ext uri="{BB962C8B-B14F-4D97-AF65-F5344CB8AC3E}">
        <p14:creationId xmlns:p14="http://schemas.microsoft.com/office/powerpoint/2010/main" val="12339074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2026-08-26T20:18:40.3340000Z</dcterms:created>
  <dcterms:modified xsi:type="dcterms:W3CDTF">2026-08-26T20:18:40.3340000Z</dcterms:modified>
</coreProperties>
</file>